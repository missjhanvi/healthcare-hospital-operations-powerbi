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119A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A2035"/>
                </a:solidFill>
              </a:defRPr>
            </a:pPr>
            <a:r>
              <a:t>Healthcare Operations &amp; Revenue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67512" y="1060704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738C9E"/>
                </a:solidFill>
              </a:defRPr>
            </a:pPr>
            <a:r>
              <a:t>An evidence-led Power BI case study | Executive presentation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52760" y="6446520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738C9E"/>
                </a:solidFill>
              </a:defRPr>
            </a:pPr>
            <a:r>
              <a:t>01</a:t>
            </a:r>
          </a:p>
        </p:txBody>
      </p:sp>
      <p:pic>
        <p:nvPicPr>
          <p:cNvPr id="6" name="Picture 5" descr="project-cov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572768"/>
            <a:ext cx="10817352" cy="4645152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119A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A2035"/>
                </a:solidFill>
              </a:defRPr>
            </a:pPr>
            <a:r>
              <a:t>Executive snapshot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67512" y="1060704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738C9E"/>
                </a:solidFill>
              </a:defRPr>
            </a:pPr>
            <a:r>
              <a:t>Source: supplied five-table healthcare workbook | unfiltered records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52760" y="6446520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738C9E"/>
                </a:solidFill>
              </a:defRPr>
            </a:pPr>
            <a:r>
              <a:t>02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691640"/>
            <a:ext cx="3383280" cy="1600200"/>
          </a:xfrm>
          <a:prstGeom prst="rect">
            <a:avLst/>
          </a:prstGeom>
          <a:solidFill>
            <a:srgbClr val="EC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32688" y="1874520"/>
            <a:ext cx="3063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738C9E"/>
                </a:solidFill>
              </a:defRPr>
            </a:pPr>
            <a:r>
              <a:t>ENCOUNTERS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" y="2313432"/>
            <a:ext cx="3063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A2035"/>
                </a:solidFill>
              </a:defRPr>
            </a:pPr>
            <a:r>
              <a:t>1,200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788920"/>
            <a:ext cx="3063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738C9E"/>
                </a:solidFill>
              </a:defRPr>
            </a:pPr>
            <a:r>
              <a:t>500 patients · 40 providers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89120" y="1691640"/>
            <a:ext cx="3383280" cy="1600200"/>
          </a:xfrm>
          <a:prstGeom prst="rect">
            <a:avLst/>
          </a:prstGeom>
          <a:solidFill>
            <a:srgbClr val="EC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90288" y="1874520"/>
            <a:ext cx="3063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738C9E"/>
                </a:solidFill>
              </a:defRPr>
            </a:pPr>
            <a:r>
              <a:t>COMPLETION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90288" y="2313432"/>
            <a:ext cx="3063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A2035"/>
                </a:solidFill>
              </a:defRPr>
            </a:pPr>
            <a:r>
              <a:t>74.1%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90288" y="2788920"/>
            <a:ext cx="3063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738C9E"/>
                </a:solidFill>
              </a:defRPr>
            </a:pPr>
            <a:r>
              <a:t>889 completed encounters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046720" y="1691640"/>
            <a:ext cx="3383280" cy="1600200"/>
          </a:xfrm>
          <a:prstGeom prst="rect">
            <a:avLst/>
          </a:prstGeom>
          <a:solidFill>
            <a:srgbClr val="EC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47888" y="1874520"/>
            <a:ext cx="3063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738C9E"/>
                </a:solidFill>
              </a:defRPr>
            </a:pPr>
            <a:r>
              <a:t>NO-SHOW RATE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47888" y="2313432"/>
            <a:ext cx="3063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A2035"/>
                </a:solidFill>
              </a:defRPr>
            </a:pPr>
            <a:r>
              <a:t>10.0%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47888" y="2788920"/>
            <a:ext cx="3063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738C9E"/>
                </a:solidFill>
              </a:defRPr>
            </a:pPr>
            <a:r>
              <a:t>120 no-show appointments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31520" y="3730752"/>
            <a:ext cx="3383280" cy="1600200"/>
          </a:xfrm>
          <a:prstGeom prst="rect">
            <a:avLst/>
          </a:prstGeom>
          <a:solidFill>
            <a:srgbClr val="EC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32688" y="3913632"/>
            <a:ext cx="3063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738C9E"/>
                </a:solidFill>
              </a:defRPr>
            </a:pPr>
            <a:r>
              <a:t>BILLED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32688" y="4352544"/>
            <a:ext cx="3063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A2035"/>
                </a:solidFill>
              </a:defRPr>
            </a:pPr>
            <a:r>
              <a:t>$465,896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2688" y="4828032"/>
            <a:ext cx="3063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738C9E"/>
                </a:solidFill>
              </a:defRPr>
            </a:pPr>
            <a:r>
              <a:t>Claims table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389120" y="3730752"/>
            <a:ext cx="3383280" cy="1600200"/>
          </a:xfrm>
          <a:prstGeom prst="rect">
            <a:avLst/>
          </a:prstGeom>
          <a:solidFill>
            <a:srgbClr val="EC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90288" y="3913632"/>
            <a:ext cx="3063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738C9E"/>
                </a:solidFill>
              </a:defRPr>
            </a:pPr>
            <a:r>
              <a:t>COLLECTED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90288" y="4352544"/>
            <a:ext cx="3063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A2035"/>
                </a:solidFill>
              </a:defRPr>
            </a:pPr>
            <a:r>
              <a:t>$284,664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90288" y="4828032"/>
            <a:ext cx="3063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738C9E"/>
                </a:solidFill>
              </a:defRPr>
            </a:pPr>
            <a:r>
              <a:t>Payments table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046720" y="3730752"/>
            <a:ext cx="3383280" cy="1600200"/>
          </a:xfrm>
          <a:prstGeom prst="rect">
            <a:avLst/>
          </a:prstGeom>
          <a:solidFill>
            <a:srgbClr val="EC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47888" y="3913632"/>
            <a:ext cx="3063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738C9E"/>
                </a:solidFill>
              </a:defRPr>
            </a:pPr>
            <a:r>
              <a:t>PENDING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47888" y="4352544"/>
            <a:ext cx="3063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A2035"/>
                </a:solidFill>
              </a:defRPr>
            </a:pPr>
            <a:r>
              <a:t>$77,737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47888" y="4828032"/>
            <a:ext cx="3063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738C9E"/>
                </a:solidFill>
              </a:defRPr>
            </a:pPr>
            <a:r>
              <a:t>Payments table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119A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A2035"/>
                </a:solidFill>
              </a:defRPr>
            </a:pPr>
            <a:r>
              <a:t>Analysis framework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67512" y="1060704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738C9E"/>
                </a:solidFill>
              </a:defRPr>
            </a:pPr>
            <a:r>
              <a:t>Five source entities · six report pages · decision-oriented KPIs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52760" y="6446520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738C9E"/>
                </a:solidFill>
              </a:defRPr>
            </a:pPr>
            <a:r>
              <a:t>03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783080"/>
            <a:ext cx="3602736" cy="1600200"/>
          </a:xfrm>
          <a:prstGeom prst="rect">
            <a:avLst/>
          </a:prstGeom>
          <a:solidFill>
            <a:srgbClr val="EC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1247" y="1965960"/>
            <a:ext cx="328269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738C9E"/>
                </a:solidFill>
              </a:defRPr>
            </a:pPr>
            <a:r>
              <a:t>PATIENTS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7" y="2404872"/>
            <a:ext cx="3282696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A2035"/>
                </a:solidFill>
              </a:defRPr>
            </a:pPr>
            <a:r>
              <a:t>500 records</a:t>
            </a:r>
            <a:br/>
            <a:r>
              <a:t>Demographics &amp; risk</a:t>
            </a:r>
          </a:p>
        </p:txBody>
      </p:sp>
      <p:sp>
        <p:nvSpPr>
          <p:cNvPr id="9" name="Rectangle 8"/>
          <p:cNvSpPr/>
          <p:nvPr/>
        </p:nvSpPr>
        <p:spPr>
          <a:xfrm>
            <a:off x="4498848" y="1783080"/>
            <a:ext cx="3602736" cy="1600200"/>
          </a:xfrm>
          <a:prstGeom prst="rect">
            <a:avLst/>
          </a:prstGeom>
          <a:solidFill>
            <a:srgbClr val="EC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700016" y="1965960"/>
            <a:ext cx="328269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738C9E"/>
                </a:solidFill>
              </a:defRPr>
            </a:pPr>
            <a:r>
              <a:t>PROVIDERS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00016" y="2404872"/>
            <a:ext cx="3282696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A2035"/>
                </a:solidFill>
              </a:defRPr>
            </a:pPr>
            <a:r>
              <a:t>40 records</a:t>
            </a:r>
            <a:br/>
            <a:r>
              <a:t>Staffing &amp; location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357615" y="1783080"/>
            <a:ext cx="3602736" cy="1600200"/>
          </a:xfrm>
          <a:prstGeom prst="rect">
            <a:avLst/>
          </a:prstGeom>
          <a:solidFill>
            <a:srgbClr val="EC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558784" y="1965960"/>
            <a:ext cx="328269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738C9E"/>
                </a:solidFill>
              </a:defRPr>
            </a:pPr>
            <a:r>
              <a:t>ENCOUNTERS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58784" y="2404872"/>
            <a:ext cx="3282696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A2035"/>
                </a:solidFill>
              </a:defRPr>
            </a:pPr>
            <a:r>
              <a:t>1,200 records</a:t>
            </a:r>
            <a:br/>
            <a:r>
              <a:t>Visits &amp; experience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3675887"/>
            <a:ext cx="3602736" cy="1600200"/>
          </a:xfrm>
          <a:prstGeom prst="rect">
            <a:avLst/>
          </a:prstGeom>
          <a:solidFill>
            <a:srgbClr val="EC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1247" y="3858768"/>
            <a:ext cx="328269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738C9E"/>
                </a:solidFill>
              </a:defRPr>
            </a:pPr>
            <a:r>
              <a:t>CLAIMS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1247" y="4297679"/>
            <a:ext cx="3282696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A2035"/>
                </a:solidFill>
              </a:defRPr>
            </a:pPr>
            <a:r>
              <a:t>1,200 records</a:t>
            </a:r>
            <a:br/>
            <a:r>
              <a:t>Payers &amp; denials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498848" y="3675887"/>
            <a:ext cx="3602736" cy="1600200"/>
          </a:xfrm>
          <a:prstGeom prst="rect">
            <a:avLst/>
          </a:prstGeom>
          <a:solidFill>
            <a:srgbClr val="EC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700016" y="3858768"/>
            <a:ext cx="328269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738C9E"/>
                </a:solidFill>
              </a:defRPr>
            </a:pPr>
            <a:r>
              <a:t>PAYMENTS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700016" y="4297679"/>
            <a:ext cx="3282696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A2035"/>
                </a:solidFill>
              </a:defRPr>
            </a:pPr>
            <a:r>
              <a:t>1,200 records</a:t>
            </a:r>
            <a:br/>
            <a:r>
              <a:t>Collections &amp; pending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119A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A2035"/>
                </a:solidFill>
              </a:defRPr>
            </a:pPr>
            <a:r>
              <a:t>Patient access | Throughput is the first signal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67512" y="1060704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738C9E"/>
                </a:solidFill>
              </a:defRPr>
            </a:pPr>
            <a:r>
              <a:t>Operational outcomes should be tracked as distinct counts and rates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52760" y="6446520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738C9E"/>
                </a:solidFill>
              </a:defRPr>
            </a:pPr>
            <a:r>
              <a:t>04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1737360"/>
            <a:ext cx="2651760" cy="1874519"/>
          </a:xfrm>
          <a:prstGeom prst="rect">
            <a:avLst/>
          </a:prstGeom>
          <a:solidFill>
            <a:srgbClr val="EC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86968" y="1920240"/>
            <a:ext cx="2331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738C9E"/>
                </a:solidFill>
              </a:defRPr>
            </a:pPr>
            <a:r>
              <a:t>Completed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6968" y="2359152"/>
            <a:ext cx="2331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A2035"/>
                </a:solidFill>
              </a:defRPr>
            </a:pPr>
            <a:r>
              <a:t>889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3108959"/>
            <a:ext cx="2331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738C9E"/>
                </a:solidFill>
              </a:defRPr>
            </a:pPr>
            <a:r>
              <a:t>74.1% of encounters</a:t>
            </a:r>
          </a:p>
        </p:txBody>
      </p:sp>
      <p:sp>
        <p:nvSpPr>
          <p:cNvPr id="10" name="Rectangle 9"/>
          <p:cNvSpPr/>
          <p:nvPr/>
        </p:nvSpPr>
        <p:spPr>
          <a:xfrm>
            <a:off x="3584448" y="1737360"/>
            <a:ext cx="2651760" cy="1874519"/>
          </a:xfrm>
          <a:prstGeom prst="rect">
            <a:avLst/>
          </a:prstGeom>
          <a:solidFill>
            <a:srgbClr val="EC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785615" y="1920240"/>
            <a:ext cx="2331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738C9E"/>
                </a:solidFill>
              </a:defRPr>
            </a:pPr>
            <a:r>
              <a:t>No-show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85615" y="2359152"/>
            <a:ext cx="2331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A2035"/>
                </a:solidFill>
              </a:defRPr>
            </a:pPr>
            <a:r>
              <a:t>120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85615" y="3108959"/>
            <a:ext cx="2331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738C9E"/>
                </a:solidFill>
              </a:defRPr>
            </a:pPr>
            <a:r>
              <a:t>10.0% of encounters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83096" y="1737360"/>
            <a:ext cx="2651760" cy="1874519"/>
          </a:xfrm>
          <a:prstGeom prst="rect">
            <a:avLst/>
          </a:prstGeom>
          <a:solidFill>
            <a:srgbClr val="EC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684264" y="1920240"/>
            <a:ext cx="2331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738C9E"/>
                </a:solidFill>
              </a:defRPr>
            </a:pPr>
            <a:r>
              <a:t>Cancelled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84264" y="2359152"/>
            <a:ext cx="2331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A2035"/>
                </a:solidFill>
              </a:defRPr>
            </a:pPr>
            <a:r>
              <a:t>108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84264" y="3108959"/>
            <a:ext cx="2331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738C9E"/>
                </a:solidFill>
              </a:defRPr>
            </a:pPr>
            <a:r>
              <a:t>9.0% of encounters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381744" y="1737360"/>
            <a:ext cx="2651760" cy="1874519"/>
          </a:xfrm>
          <a:prstGeom prst="rect">
            <a:avLst/>
          </a:prstGeom>
          <a:solidFill>
            <a:srgbClr val="EC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582912" y="1920240"/>
            <a:ext cx="2331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738C9E"/>
                </a:solidFill>
              </a:defRPr>
            </a:pPr>
            <a:r>
              <a:t>Rescheduled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582912" y="2359152"/>
            <a:ext cx="2331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A2035"/>
                </a:solidFill>
              </a:defRPr>
            </a:pPr>
            <a:r>
              <a:t>83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582912" y="3108959"/>
            <a:ext cx="2331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738C9E"/>
                </a:solidFill>
              </a:defRPr>
            </a:pPr>
            <a:r>
              <a:t>6.9% of encounters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8680" y="4160520"/>
            <a:ext cx="104241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0">
                <a:solidFill>
                  <a:srgbClr val="0A2035"/>
                </a:solidFill>
              </a:defRPr>
            </a:pPr>
            <a:r>
              <a:t>Recommendation: pilot reminders and rapid rescheduling, then measure completion and no-show changes by department and encounter type.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119A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A2035"/>
                </a:solidFill>
              </a:defRPr>
            </a:pPr>
            <a:r>
              <a:t>Demand | Where volume concentrates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67512" y="1060704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738C9E"/>
                </a:solidFill>
              </a:defRPr>
            </a:pPr>
            <a:r>
              <a:t>High patient volume is not automatically poor performance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52760" y="6446520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738C9E"/>
                </a:solidFill>
              </a:defRPr>
            </a:pPr>
            <a:r>
              <a:t>05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828800"/>
            <a:ext cx="3566160" cy="2011680"/>
          </a:xfrm>
          <a:prstGeom prst="rect">
            <a:avLst/>
          </a:prstGeom>
          <a:solidFill>
            <a:srgbClr val="EC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32688" y="2011680"/>
            <a:ext cx="3246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738C9E"/>
                </a:solidFill>
              </a:defRPr>
            </a:pPr>
            <a:r>
              <a:t>Primary Care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" y="2450592"/>
            <a:ext cx="3246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A2035"/>
                </a:solidFill>
              </a:defRPr>
            </a:pPr>
            <a:r>
              <a:t>187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3337560"/>
            <a:ext cx="3246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738C9E"/>
                </a:solidFill>
              </a:defRPr>
            </a:pPr>
            <a:r>
              <a:t>encounters</a:t>
            </a:r>
          </a:p>
        </p:txBody>
      </p:sp>
      <p:sp>
        <p:nvSpPr>
          <p:cNvPr id="10" name="Rectangle 9"/>
          <p:cNvSpPr/>
          <p:nvPr/>
        </p:nvSpPr>
        <p:spPr>
          <a:xfrm>
            <a:off x="4617720" y="1828800"/>
            <a:ext cx="3566160" cy="2011680"/>
          </a:xfrm>
          <a:prstGeom prst="rect">
            <a:avLst/>
          </a:prstGeom>
          <a:solidFill>
            <a:srgbClr val="EC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818888" y="2011680"/>
            <a:ext cx="3246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738C9E"/>
                </a:solidFill>
              </a:defRPr>
            </a:pPr>
            <a:r>
              <a:t>Emergency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18888" y="2450592"/>
            <a:ext cx="3246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A2035"/>
                </a:solidFill>
              </a:defRPr>
            </a:pPr>
            <a:r>
              <a:t>151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18888" y="3337560"/>
            <a:ext cx="3246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738C9E"/>
                </a:solidFill>
              </a:defRPr>
            </a:pPr>
            <a:r>
              <a:t>encounters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503920" y="1828800"/>
            <a:ext cx="3566160" cy="2011680"/>
          </a:xfrm>
          <a:prstGeom prst="rect">
            <a:avLst/>
          </a:prstGeom>
          <a:solidFill>
            <a:srgbClr val="EC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705088" y="2011680"/>
            <a:ext cx="3246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738C9E"/>
                </a:solidFill>
              </a:defRPr>
            </a:pPr>
            <a:r>
              <a:t>Cardiology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705088" y="2450592"/>
            <a:ext cx="3246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A2035"/>
                </a:solidFill>
              </a:defRPr>
            </a:pPr>
            <a:r>
              <a:t>142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705088" y="3337560"/>
            <a:ext cx="3246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738C9E"/>
                </a:solidFill>
              </a:defRPr>
            </a:pPr>
            <a:r>
              <a:t>encounters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4389120"/>
            <a:ext cx="100584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0">
                <a:solidFill>
                  <a:srgbClr val="0A2035"/>
                </a:solidFill>
              </a:defRPr>
            </a:pPr>
            <a:r>
              <a:t>Action: compare completed visits, provider workload and average wait time before revising scheduling capacity.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119A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A2035"/>
                </a:solidFill>
              </a:defRPr>
            </a:pPr>
            <a:r>
              <a:t>Revenue | Distinguish billed, collected and at-risk amounts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67512" y="1060704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738C9E"/>
                </a:solidFill>
              </a:defRPr>
            </a:pPr>
            <a:r>
              <a:t>Payment totals sourced from Claims and Payments tables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52760" y="6446520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738C9E"/>
                </a:solidFill>
              </a:defRPr>
            </a:pPr>
            <a:r>
              <a:t>06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737360"/>
            <a:ext cx="3639312" cy="1691640"/>
          </a:xfrm>
          <a:prstGeom prst="rect">
            <a:avLst/>
          </a:prstGeom>
          <a:solidFill>
            <a:srgbClr val="EC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331927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738C9E"/>
                </a:solidFill>
              </a:defRPr>
            </a:pPr>
            <a:r>
              <a:t>Billed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59152"/>
            <a:ext cx="331927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A2035"/>
                </a:solidFill>
              </a:defRPr>
            </a:pPr>
            <a:r>
              <a:t>$465,896</a:t>
            </a:r>
          </a:p>
        </p:txBody>
      </p:sp>
      <p:sp>
        <p:nvSpPr>
          <p:cNvPr id="9" name="Rectangle 8"/>
          <p:cNvSpPr/>
          <p:nvPr/>
        </p:nvSpPr>
        <p:spPr>
          <a:xfrm>
            <a:off x="4590288" y="1737360"/>
            <a:ext cx="3639312" cy="1691640"/>
          </a:xfrm>
          <a:prstGeom prst="rect">
            <a:avLst/>
          </a:prstGeom>
          <a:solidFill>
            <a:srgbClr val="EC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791456" y="1920240"/>
            <a:ext cx="331927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738C9E"/>
                </a:solidFill>
              </a:defRPr>
            </a:pPr>
            <a:r>
              <a:t>Approved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91456" y="2359152"/>
            <a:ext cx="331927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A2035"/>
                </a:solidFill>
              </a:defRPr>
            </a:pPr>
            <a:r>
              <a:t>$362,401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467344" y="1737360"/>
            <a:ext cx="3639312" cy="1691640"/>
          </a:xfrm>
          <a:prstGeom prst="rect">
            <a:avLst/>
          </a:prstGeom>
          <a:solidFill>
            <a:srgbClr val="EC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68512" y="1920240"/>
            <a:ext cx="331927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738C9E"/>
                </a:solidFill>
              </a:defRPr>
            </a:pPr>
            <a:r>
              <a:t>Collected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68512" y="2359152"/>
            <a:ext cx="331927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A2035"/>
                </a:solidFill>
              </a:defRPr>
            </a:pPr>
            <a:r>
              <a:t>$284,664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13232" y="3721608"/>
            <a:ext cx="3639312" cy="1691640"/>
          </a:xfrm>
          <a:prstGeom prst="rect">
            <a:avLst/>
          </a:prstGeom>
          <a:solidFill>
            <a:srgbClr val="EC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3904488"/>
            <a:ext cx="331927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738C9E"/>
                </a:solidFill>
              </a:defRPr>
            </a:pPr>
            <a:r>
              <a:t>Pending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4343400"/>
            <a:ext cx="331927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A2035"/>
                </a:solidFill>
              </a:defRPr>
            </a:pPr>
            <a:r>
              <a:t>$77,737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90288" y="3721608"/>
            <a:ext cx="3639312" cy="1691640"/>
          </a:xfrm>
          <a:prstGeom prst="rect">
            <a:avLst/>
          </a:prstGeom>
          <a:solidFill>
            <a:srgbClr val="EC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791456" y="3904488"/>
            <a:ext cx="331927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738C9E"/>
                </a:solidFill>
              </a:defRPr>
            </a:pPr>
            <a:r>
              <a:t>Denied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791456" y="4343400"/>
            <a:ext cx="331927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A2035"/>
                </a:solidFill>
              </a:defRPr>
            </a:pPr>
            <a:r>
              <a:t>$30,651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119A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A2035"/>
                </a:solidFill>
              </a:defRPr>
            </a:pPr>
            <a:r>
              <a:t>Collection priorities | Follow the pending balance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67512" y="1060704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738C9E"/>
                </a:solidFill>
              </a:defRPr>
            </a:pPr>
            <a:r>
              <a:t>Prioritization hypothesis—confirm payer, aging and recoverability first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52760" y="6446520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738C9E"/>
                </a:solidFill>
              </a:defRPr>
            </a:pPr>
            <a:r>
              <a:t>07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828800"/>
            <a:ext cx="3593592" cy="1965960"/>
          </a:xfrm>
          <a:prstGeom prst="rect">
            <a:avLst/>
          </a:prstGeom>
          <a:solidFill>
            <a:srgbClr val="EC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32688" y="2011680"/>
            <a:ext cx="327355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738C9E"/>
                </a:solidFill>
              </a:defRPr>
            </a:pPr>
            <a:r>
              <a:t>Cardiology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" y="2450592"/>
            <a:ext cx="32735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A2035"/>
                </a:solidFill>
              </a:defRPr>
            </a:pPr>
            <a:r>
              <a:t>$12,663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3291840"/>
            <a:ext cx="327355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738C9E"/>
                </a:solidFill>
              </a:defRPr>
            </a:pPr>
            <a:r>
              <a:t>pending amount</a:t>
            </a:r>
          </a:p>
        </p:txBody>
      </p:sp>
      <p:sp>
        <p:nvSpPr>
          <p:cNvPr id="10" name="Rectangle 9"/>
          <p:cNvSpPr/>
          <p:nvPr/>
        </p:nvSpPr>
        <p:spPr>
          <a:xfrm>
            <a:off x="4608576" y="1828800"/>
            <a:ext cx="3593592" cy="1965960"/>
          </a:xfrm>
          <a:prstGeom prst="rect">
            <a:avLst/>
          </a:prstGeom>
          <a:solidFill>
            <a:srgbClr val="EC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809744" y="2011680"/>
            <a:ext cx="327355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738C9E"/>
                </a:solidFill>
              </a:defRPr>
            </a:pPr>
            <a:r>
              <a:t>Primary Care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09744" y="2450592"/>
            <a:ext cx="32735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A2035"/>
                </a:solidFill>
              </a:defRPr>
            </a:pPr>
            <a:r>
              <a:t>$11,820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09744" y="3291840"/>
            <a:ext cx="327355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738C9E"/>
                </a:solidFill>
              </a:defRPr>
            </a:pPr>
            <a:r>
              <a:t>pending amount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485632" y="1828800"/>
            <a:ext cx="3593592" cy="1965960"/>
          </a:xfrm>
          <a:prstGeom prst="rect">
            <a:avLst/>
          </a:prstGeom>
          <a:solidFill>
            <a:srgbClr val="EC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0" y="2011680"/>
            <a:ext cx="327355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738C9E"/>
                </a:solidFill>
              </a:defRPr>
            </a:pPr>
            <a:r>
              <a:t>Neurology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0" y="2450592"/>
            <a:ext cx="32735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A2035"/>
                </a:solidFill>
              </a:defRPr>
            </a:pPr>
            <a:r>
              <a:t>$8,950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0" y="3291840"/>
            <a:ext cx="327355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738C9E"/>
                </a:solidFill>
              </a:defRPr>
            </a:pPr>
            <a:r>
              <a:t>pending amount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" y="434340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0">
                <a:solidFill>
                  <a:srgbClr val="0A2035"/>
                </a:solidFill>
              </a:defRPr>
            </a:pPr>
            <a:r>
              <a:t>Action: segment these balances by claim age, payer and status. Track recovered cash and days-to-resolution.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119A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A2035"/>
                </a:solidFill>
              </a:defRPr>
            </a:pPr>
            <a:r>
              <a:t>Denials | Build a root-cause workflow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67512" y="1060704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738C9E"/>
                </a:solidFill>
              </a:defRPr>
            </a:pPr>
            <a:r>
              <a:t>A separate action stream from pending claim follow-up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52760" y="6446520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738C9E"/>
                </a:solidFill>
              </a:defRPr>
            </a:pPr>
            <a:r>
              <a:t>08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664208"/>
            <a:ext cx="5449824" cy="1755648"/>
          </a:xfrm>
          <a:prstGeom prst="rect">
            <a:avLst/>
          </a:prstGeom>
          <a:solidFill>
            <a:srgbClr val="EC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32688" y="1847088"/>
            <a:ext cx="51297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738C9E"/>
                </a:solidFill>
              </a:defRPr>
            </a:pPr>
            <a:r>
              <a:t>Timely Filing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" y="2286000"/>
            <a:ext cx="5129784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A2035"/>
                </a:solidFill>
              </a:defRPr>
            </a:pPr>
            <a:r>
              <a:t>19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916936"/>
            <a:ext cx="512978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738C9E"/>
                </a:solidFill>
              </a:defRPr>
            </a:pPr>
            <a:r>
              <a:t>denied claims with this reason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46520" y="1664208"/>
            <a:ext cx="5449824" cy="1755648"/>
          </a:xfrm>
          <a:prstGeom prst="rect">
            <a:avLst/>
          </a:prstGeom>
          <a:solidFill>
            <a:srgbClr val="EC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47688" y="1847088"/>
            <a:ext cx="51297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738C9E"/>
                </a:solidFill>
              </a:defRPr>
            </a:pPr>
            <a:r>
              <a:t>Coding Error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47688" y="2286000"/>
            <a:ext cx="5129784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A2035"/>
                </a:solidFill>
              </a:defRPr>
            </a:pPr>
            <a:r>
              <a:t>16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47688" y="2916936"/>
            <a:ext cx="512978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738C9E"/>
                </a:solidFill>
              </a:defRPr>
            </a:pPr>
            <a:r>
              <a:t>denied claims with this reason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1520" y="3675888"/>
            <a:ext cx="5449824" cy="1755648"/>
          </a:xfrm>
          <a:prstGeom prst="rect">
            <a:avLst/>
          </a:prstGeom>
          <a:solidFill>
            <a:srgbClr val="EC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32688" y="3858768"/>
            <a:ext cx="51297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738C9E"/>
                </a:solidFill>
              </a:defRPr>
            </a:pPr>
            <a:r>
              <a:t>Eligibility Issue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32688" y="4297680"/>
            <a:ext cx="5129784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A2035"/>
                </a:solidFill>
              </a:defRPr>
            </a:pPr>
            <a:r>
              <a:t>16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32688" y="4928616"/>
            <a:ext cx="512978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738C9E"/>
                </a:solidFill>
              </a:defRPr>
            </a:pPr>
            <a:r>
              <a:t>denied claims with this reason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46520" y="3675888"/>
            <a:ext cx="5449824" cy="1755648"/>
          </a:xfrm>
          <a:prstGeom prst="rect">
            <a:avLst/>
          </a:prstGeom>
          <a:solidFill>
            <a:srgbClr val="EC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47688" y="3858768"/>
            <a:ext cx="51297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738C9E"/>
                </a:solidFill>
              </a:defRPr>
            </a:pPr>
            <a:r>
              <a:t>Missing Documentation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47688" y="4297680"/>
            <a:ext cx="5129784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A2035"/>
                </a:solidFill>
              </a:defRPr>
            </a:pPr>
            <a:r>
              <a:t>12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47688" y="4928616"/>
            <a:ext cx="512978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738C9E"/>
                </a:solidFill>
              </a:defRPr>
            </a:pPr>
            <a:r>
              <a:t>denied claims with this reason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119A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A2035"/>
                </a:solidFill>
              </a:defRPr>
            </a:pPr>
            <a:r>
              <a:t>Recommendations | Operationalize the dashboard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67512" y="1060704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738C9E"/>
                </a:solidFill>
              </a:defRPr>
            </a:pPr>
            <a:r>
              <a:t>Observation → Risk → Action → Measure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52760" y="6446520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738C9E"/>
                </a:solidFill>
              </a:defRPr>
            </a:pPr>
            <a:r>
              <a:t>09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444752"/>
            <a:ext cx="3749039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A2035"/>
                </a:solidFill>
              </a:defRPr>
            </a:pPr>
            <a:r>
              <a:t>01  Protect access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43400" y="1444752"/>
            <a:ext cx="7040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0A2035"/>
                </a:solidFill>
              </a:defRPr>
            </a:pPr>
            <a:r>
              <a:t>Test reminders, confirmation and quicker rescheduling.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359152"/>
            <a:ext cx="3749039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A2035"/>
                </a:solidFill>
              </a:defRPr>
            </a:pPr>
            <a:r>
              <a:t>02  Match capacity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43400" y="2359152"/>
            <a:ext cx="7040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0A2035"/>
                </a:solidFill>
              </a:defRPr>
            </a:pPr>
            <a:r>
              <a:t>Review provider coverage and wait times for high-volume departments.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273552"/>
            <a:ext cx="3749039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A2035"/>
                </a:solidFill>
              </a:defRPr>
            </a:pPr>
            <a:r>
              <a:t>03  Accelerate cash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43400" y="3273552"/>
            <a:ext cx="7040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0A2035"/>
                </a:solidFill>
              </a:defRPr>
            </a:pPr>
            <a:r>
              <a:t>Triage Cardiology and Primary Care pending claims by payer / aging.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4187952"/>
            <a:ext cx="3749039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A2035"/>
                </a:solidFill>
              </a:defRPr>
            </a:pPr>
            <a:r>
              <a:t>04  Reduce denial friction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43400" y="4187952"/>
            <a:ext cx="7040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0A2035"/>
                </a:solidFill>
              </a:defRPr>
            </a:pPr>
            <a:r>
              <a:t>Investigate frequent denial reasons; track resubmission outcomes.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5102352"/>
            <a:ext cx="3749039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A2035"/>
                </a:solidFill>
              </a:defRPr>
            </a:pPr>
            <a:r>
              <a:t>05  Govern weekly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43400" y="5102352"/>
            <a:ext cx="7040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0A2035"/>
                </a:solidFill>
              </a:defRPr>
            </a:pPr>
            <a:r>
              <a:t>Use an executive scorecard for completion, no-shows and payment status.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119A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A2035"/>
                </a:solidFill>
              </a:defRPr>
            </a:pPr>
            <a:r>
              <a:t>Methodology &amp; guardrails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67512" y="1060704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738C9E"/>
                </a:solidFill>
              </a:defRPr>
            </a:pPr>
            <a:r>
              <a:t>Source-backed descriptive analysis—not proven causal business impact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52760" y="6446520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738C9E"/>
                </a:solidFill>
              </a:defRPr>
            </a:pPr>
            <a:r>
              <a:t>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6384" y="1554480"/>
            <a:ext cx="10515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0">
                <a:solidFill>
                  <a:srgbClr val="0A2035"/>
                </a:solidFill>
              </a:defRPr>
            </a:pPr>
            <a:r>
              <a:t>• Counts and financial amounts were recalculated from the supplied Excel workbook.</a:t>
            </a:r>
            <a:br/>
            <a:br/>
            <a:r>
              <a:t>• Power BI has six report pages; slicer context may produce different page-level figures.</a:t>
            </a:r>
            <a:br/>
            <a:br/>
            <a:r>
              <a:t>• Operational issues and revenue exposure may be related, but causal effects are not established.</a:t>
            </a:r>
            <a:br/>
            <a:br/>
            <a:r>
              <a:t>• The original workbook and PBIX contain or may embed identifiable patient data and are withheld from the public package.</a:t>
            </a:r>
            <a:br/>
            <a:br/>
            <a:r>
              <a:t>• See GitHub case study, KPI definitions and technical notes for supporting details.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